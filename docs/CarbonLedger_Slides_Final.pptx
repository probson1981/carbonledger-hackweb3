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4993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4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1A0E"/>
          </a:solidFill>
          <a:ln w="12700">
            <a:solidFill>
              <a:srgbClr val="061A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52400" y="11887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4CFF9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🌱 CarbonLedger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Registro, validação, negociação, concessão e certificação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créditos de carbono em blockchain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HackWeb3 RESTIC 29  ·  Desafio 3 — ImpactLedger  ·  Hackathon Web 3.0 IREDE  ·  Junho 2026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3840480"/>
            <a:ext cx="2286000" cy="914400"/>
          </a:xfrm>
          <a:prstGeom prst="rect">
            <a:avLst/>
          </a:prstGeom>
          <a:solidFill>
            <a:srgbClr val="061A0E"/>
          </a:solidFill>
          <a:ln w="12700">
            <a:solidFill>
              <a:srgbClr val="1A3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39136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CF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Ednardo Peixoto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418795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Lead / Smart Contracts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83280" y="3840480"/>
            <a:ext cx="2286000" cy="914400"/>
          </a:xfrm>
          <a:prstGeom prst="rect">
            <a:avLst/>
          </a:prstGeom>
          <a:solidFill>
            <a:srgbClr val="061A0E"/>
          </a:solidFill>
          <a:ln w="12700">
            <a:solidFill>
              <a:srgbClr val="1A3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0" y="39136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CF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Alanio Lima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0" y="418795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/ Documentação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35040" y="3840480"/>
            <a:ext cx="2286000" cy="914400"/>
          </a:xfrm>
          <a:prstGeom prst="rect">
            <a:avLst/>
          </a:prstGeom>
          <a:solidFill>
            <a:srgbClr val="061A0E"/>
          </a:solidFill>
          <a:ln w="12700">
            <a:solidFill>
              <a:srgbClr val="1A3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39136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CF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Patrício Alves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26480" y="418795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/ QA / Pitch</a:t>
            </a:r>
            <a:endParaRPr lang="en-US" sz="950" dirty="0"/>
          </a:p>
        </p:txBody>
      </p:sp>
      <p:pic>
        <p:nvPicPr>
          <p:cNvPr id="16" name="Gráfico 15">
            <a:extLst>
              <a:ext uri="{FF2B5EF4-FFF2-40B4-BE49-F238E27FC236}">
                <a16:creationId xmlns:a16="http://schemas.microsoft.com/office/drawing/2014/main" id="{AEA42DEF-D917-6326-FB2E-7D0E1D2A11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07246" y="1097280"/>
            <a:ext cx="2710179" cy="18220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4CFF9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Problema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mercado de carbono tem uma crise de confiança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8412480" cy="685800"/>
          </a:xfrm>
          <a:prstGeom prst="rect">
            <a:avLst/>
          </a:prstGeom>
          <a:solidFill>
            <a:srgbClr val="2D0A0A"/>
          </a:solidFill>
          <a:ln w="12700">
            <a:solidFill>
              <a:srgbClr val="1A3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3716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"Até 90% dos créditos de carbono não representam CO₂ real"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2103120"/>
            <a:ext cx="2011680" cy="1371600"/>
          </a:xfrm>
          <a:prstGeom prst="rect">
            <a:avLst/>
          </a:prstGeom>
          <a:solidFill>
            <a:srgbClr val="1A0A0A"/>
          </a:solidFill>
          <a:ln w="12700">
            <a:solidFill>
              <a:srgbClr val="1A3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217627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2578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Dupla Contagem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28529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crédito vendido 2x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23160" y="2103120"/>
            <a:ext cx="2011680" cy="1371600"/>
          </a:xfrm>
          <a:prstGeom prst="rect">
            <a:avLst/>
          </a:prstGeom>
          <a:solidFill>
            <a:srgbClr val="1A0A0A"/>
          </a:solidFill>
          <a:ln w="12700">
            <a:solidFill>
              <a:srgbClr val="1A3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23160" y="217627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423160" y="2578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Planilhas Alteráveis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23160" y="28529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histórico auditável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0" y="2103120"/>
            <a:ext cx="2011680" cy="1371600"/>
          </a:xfrm>
          <a:prstGeom prst="rect">
            <a:avLst/>
          </a:prstGeom>
          <a:solidFill>
            <a:srgbClr val="1A0A0A"/>
          </a:solidFill>
          <a:ln w="12700">
            <a:solidFill>
              <a:srgbClr val="1A3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0" y="217627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🎭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72000" y="2578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Greenwashing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28529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Declarações sem evidências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720840" y="2103120"/>
            <a:ext cx="2011680" cy="1371600"/>
          </a:xfrm>
          <a:prstGeom prst="rect">
            <a:avLst/>
          </a:prstGeom>
          <a:solidFill>
            <a:srgbClr val="1A0A0A"/>
          </a:solidFill>
          <a:ln w="12700">
            <a:solidFill>
              <a:srgbClr val="1A3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20840" y="217627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720840" y="2578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Rastreabilidade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20840" y="28529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Impossível auditar origem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611880"/>
            <a:ext cx="8412480" cy="1325880"/>
          </a:xfrm>
          <a:prstGeom prst="rect">
            <a:avLst/>
          </a:prstGeom>
          <a:solidFill>
            <a:srgbClr val="0D1B2A"/>
          </a:solidFill>
          <a:ln w="12700">
            <a:solidFill>
              <a:srgbClr val="1A3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8640" y="370332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Mercado voluntário: US$ 2 bilhões/ano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39959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Contratos de carbono na UE: +10.000% em 5 anos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428853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🇧🇷  SBCE (Lei 1542/2024): Brasil entra no mercado obrigatório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" y="458114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Empresas acima de 25.000t/ano já devem conciliar emissões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4CFF9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Solução — CarbonLedger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 descentralizada — do registro ao certificado NFT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8412480" cy="594360"/>
          </a:xfrm>
          <a:prstGeom prst="rect">
            <a:avLst/>
          </a:prstGeom>
          <a:solidFill>
            <a:srgbClr val="0A2E1A"/>
          </a:solidFill>
          <a:ln w="12700">
            <a:solidFill>
              <a:srgbClr val="1A3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9844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CF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"Como a rotulagem ecológica da ABNT — auditável por qualquer pessoa no Etherscan, 24h/dia, sem intermediários"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74320" y="1920240"/>
            <a:ext cx="2011680" cy="1508760"/>
          </a:xfrm>
          <a:prstGeom prst="rect">
            <a:avLst/>
          </a:prstGeom>
          <a:solidFill>
            <a:srgbClr val="0A2E1A"/>
          </a:solidFill>
          <a:ln w="12700">
            <a:solidFill>
              <a:srgbClr val="1A3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9933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74320" y="23957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CF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Imutável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267004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permanente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blockchain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23160" y="1920240"/>
            <a:ext cx="2011680" cy="1508760"/>
          </a:xfrm>
          <a:prstGeom prst="rect">
            <a:avLst/>
          </a:prstGeom>
          <a:solidFill>
            <a:srgbClr val="0A2E1A"/>
          </a:solidFill>
          <a:ln w="12700">
            <a:solidFill>
              <a:srgbClr val="1A3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23160" y="19933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👁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423160" y="23957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CF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23160" y="267004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Auditável no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Sepolia Etherscan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0" y="1920240"/>
            <a:ext cx="2011680" cy="1508760"/>
          </a:xfrm>
          <a:prstGeom prst="rect">
            <a:avLst/>
          </a:prstGeom>
          <a:solidFill>
            <a:srgbClr val="0A2E1A"/>
          </a:solidFill>
          <a:ln w="12700">
            <a:solidFill>
              <a:srgbClr val="1A3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0" y="19933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🚫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572000" y="23957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CF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Anti-Fraude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0" y="267004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definitivo —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spending impossível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720840" y="1920240"/>
            <a:ext cx="2011680" cy="1508760"/>
          </a:xfrm>
          <a:prstGeom prst="rect">
            <a:avLst/>
          </a:prstGeom>
          <a:solidFill>
            <a:srgbClr val="0A2E1A"/>
          </a:solidFill>
          <a:ln w="12700">
            <a:solidFill>
              <a:srgbClr val="1A3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20840" y="19933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📜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720840" y="23957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CF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NFT Automático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20840" y="267004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Certificado ERC-721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emitido on-chain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566160"/>
            <a:ext cx="841248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1A3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8640" y="36393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US$ 9–12 trilhões em vendas anuais até 2030 na economia de baixo carbono  (McKinsey)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github.com/probson1981/CarbonLedger-HackWeb3  ·  carbonledger-tau.vercel.app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4CFF9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Fluxo Completo do MVP — 9 Etapas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cadastro do projeto ao certificado NFT — tudo on-chain na Sepolia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28600" y="1280160"/>
            <a:ext cx="1600200" cy="1554480"/>
          </a:xfrm>
          <a:prstGeom prst="rect">
            <a:avLst/>
          </a:prstGeom>
          <a:solidFill>
            <a:srgbClr val="0A4F2E"/>
          </a:solidFill>
          <a:ln w="12700">
            <a:solidFill>
              <a:srgbClr val="1A3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3716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28600" y="17373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F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" y="2029968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Proponente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projeto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984248" y="1280160"/>
            <a:ext cx="1600200" cy="1554480"/>
          </a:xfrm>
          <a:prstGeom prst="rect">
            <a:avLst/>
          </a:prstGeom>
          <a:solidFill>
            <a:srgbClr val="0A4F2E"/>
          </a:solidFill>
          <a:ln w="12700">
            <a:solidFill>
              <a:srgbClr val="1A3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84248" y="13716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984248" y="17373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F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84248" y="2029968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de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739896" y="1280160"/>
            <a:ext cx="1600200" cy="1554480"/>
          </a:xfrm>
          <a:prstGeom prst="rect">
            <a:avLst/>
          </a:prstGeom>
          <a:solidFill>
            <a:srgbClr val="0A4F2E"/>
          </a:solidFill>
          <a:ln w="12700">
            <a:solidFill>
              <a:srgbClr val="1A3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39896" y="13716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739896" y="17373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F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Votação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39896" y="2029968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Validadores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votam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95544" y="1280160"/>
            <a:ext cx="1600200" cy="1554480"/>
          </a:xfrm>
          <a:prstGeom prst="rect">
            <a:avLst/>
          </a:prstGeom>
          <a:solidFill>
            <a:srgbClr val="0A4F2E"/>
          </a:solidFill>
          <a:ln w="12700">
            <a:solidFill>
              <a:srgbClr val="1A3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95544" y="13716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495544" y="17373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F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95544" y="2029968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251192" y="1280160"/>
            <a:ext cx="1600200" cy="15544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3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251192" y="13716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251192" y="17373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F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Emissão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251192" y="2029968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emite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 ERC-1155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28600" y="3063240"/>
            <a:ext cx="1600200" cy="15544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3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28600" y="3154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228600" y="35204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F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28600" y="3813048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Proponente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marketplace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984248" y="3063240"/>
            <a:ext cx="1600200" cy="1554480"/>
          </a:xfrm>
          <a:prstGeom prst="rect">
            <a:avLst/>
          </a:prstGeom>
          <a:solidFill>
            <a:srgbClr val="6C3483"/>
          </a:solidFill>
          <a:ln w="12700">
            <a:solidFill>
              <a:srgbClr val="1A3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984248" y="3154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984248" y="35204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F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984248" y="3813048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Comprador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ETH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739896" y="3063240"/>
            <a:ext cx="1600200" cy="1554480"/>
          </a:xfrm>
          <a:prstGeom prst="rect">
            <a:avLst/>
          </a:prstGeom>
          <a:solidFill>
            <a:srgbClr val="C0392B"/>
          </a:solidFill>
          <a:ln w="12700">
            <a:solidFill>
              <a:srgbClr val="1A3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739896" y="3154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3739896" y="35204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F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Aposentadoria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739896" y="3813048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definitivo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95544" y="3063240"/>
            <a:ext cx="1600200" cy="1554480"/>
          </a:xfrm>
          <a:prstGeom prst="rect">
            <a:avLst/>
          </a:prstGeom>
          <a:solidFill>
            <a:srgbClr val="F39C12"/>
          </a:solidFill>
          <a:ln w="12700">
            <a:solidFill>
              <a:srgbClr val="1A3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495544" y="3154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5495544" y="35204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95544" y="3813048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ERC-721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4CFF9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Tokens e Ativos do Sistema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padrões de token — cada um com função específica no protocolo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859536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A3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371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🪙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325880" y="1371600"/>
            <a:ext cx="54864" cy="822960"/>
          </a:xfrm>
          <a:prstGeom prst="rect">
            <a:avLst/>
          </a:prstGeom>
          <a:solidFill>
            <a:srgbClr val="4CFF91"/>
          </a:solidFill>
          <a:ln w="12700">
            <a:solidFill>
              <a:srgbClr val="4CFF9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0" y="13716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CFF9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TIC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63040" y="17830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ERC-20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3172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TokenImpactoCarbono.sol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331720" y="171907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interno do protocolo CarbonLedger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514600"/>
            <a:ext cx="859536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A3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1480" y="2606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🌱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1325880" y="2606040"/>
            <a:ext cx="54864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63040" y="26060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CCT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463040" y="3017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ERC-1155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33172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CreditoCarbonoToken.sol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331720" y="295351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Lotes de créditos de carbono por projeto ambiental aprovado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3749040"/>
            <a:ext cx="859536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A3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11480" y="3840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🏆</a:t>
            </a:r>
            <a:endParaRPr lang="en-US" sz="3200" dirty="0"/>
          </a:p>
        </p:txBody>
      </p:sp>
      <p:sp>
        <p:nvSpPr>
          <p:cNvPr id="20" name="Shape 18"/>
          <p:cNvSpPr/>
          <p:nvPr/>
        </p:nvSpPr>
        <p:spPr>
          <a:xfrm>
            <a:off x="1325880" y="3840480"/>
            <a:ext cx="54864" cy="82296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63040" y="38404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C8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NFT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463040" y="42519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ERC-721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331720" y="3840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CertificadoCompensacao.sol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331720" y="418795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Certificado de compensação emitido após aposentadoria — visível no Sepolia Etherscan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4CFF9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Arquitetura — 13 Smart Contracts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 · OpenZeppelin · Chainlink Oracle · Sepolia Testnet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4206240" cy="475488"/>
          </a:xfrm>
          <a:prstGeom prst="rect">
            <a:avLst/>
          </a:prstGeom>
          <a:solidFill>
            <a:srgbClr val="111827"/>
          </a:solidFill>
          <a:ln w="12700">
            <a:solidFill>
              <a:srgbClr val="1A3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92608" y="1252728"/>
            <a:ext cx="54864" cy="438912"/>
          </a:xfrm>
          <a:prstGeom prst="rect">
            <a:avLst/>
          </a:prstGeom>
          <a:solidFill>
            <a:srgbClr val="4CFF91"/>
          </a:solidFill>
          <a:ln w="12700">
            <a:solidFill>
              <a:srgbClr val="4CFF9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27101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CFF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TokenImpactoCarbono.sol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38912" y="1490472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ERC-20 — token interno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09160" y="1234440"/>
            <a:ext cx="4206240" cy="475488"/>
          </a:xfrm>
          <a:prstGeom prst="rect">
            <a:avLst/>
          </a:prstGeom>
          <a:solidFill>
            <a:srgbClr val="111827"/>
          </a:solidFill>
          <a:ln w="12700">
            <a:solidFill>
              <a:srgbClr val="1A3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27448" y="1252728"/>
            <a:ext cx="54864" cy="438912"/>
          </a:xfrm>
          <a:prstGeom prst="rect">
            <a:avLst/>
          </a:prstGeom>
          <a:solidFill>
            <a:srgbClr val="4CFF91"/>
          </a:solidFill>
          <a:ln w="12700">
            <a:solidFill>
              <a:srgbClr val="4CFF9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73752" y="127101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CFF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CreditoCarbonoToken.sol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873752" y="1490472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ERC-1155 — lotes de créditos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1783080"/>
            <a:ext cx="4206240" cy="475488"/>
          </a:xfrm>
          <a:prstGeom prst="rect">
            <a:avLst/>
          </a:prstGeom>
          <a:solidFill>
            <a:srgbClr val="111827"/>
          </a:solidFill>
          <a:ln w="12700">
            <a:solidFill>
              <a:srgbClr val="1A3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92608" y="1801368"/>
            <a:ext cx="54864" cy="438912"/>
          </a:xfrm>
          <a:prstGeom prst="rect">
            <a:avLst/>
          </a:prstGeom>
          <a:solidFill>
            <a:srgbClr val="4CFF91"/>
          </a:solidFill>
          <a:ln w="12700">
            <a:solidFill>
              <a:srgbClr val="4CFF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181965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CFF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CertificadoCompensacaoNFT.sol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039112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ERC-721 — certificado NFT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09160" y="1783080"/>
            <a:ext cx="4206240" cy="475488"/>
          </a:xfrm>
          <a:prstGeom prst="rect">
            <a:avLst/>
          </a:prstGeom>
          <a:solidFill>
            <a:srgbClr val="111827"/>
          </a:solidFill>
          <a:ln w="12700">
            <a:solidFill>
              <a:srgbClr val="1A3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27448" y="1801368"/>
            <a:ext cx="54864" cy="438912"/>
          </a:xfrm>
          <a:prstGeom prst="rect">
            <a:avLst/>
          </a:prstGeom>
          <a:solidFill>
            <a:srgbClr val="4CFF91"/>
          </a:solidFill>
          <a:ln w="12700">
            <a:solidFill>
              <a:srgbClr val="4CFF9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73752" y="181965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CFF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RegistroOrganizacoes.sol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73752" y="2039112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de organizações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2331720"/>
            <a:ext cx="4206240" cy="475488"/>
          </a:xfrm>
          <a:prstGeom prst="rect">
            <a:avLst/>
          </a:prstGeom>
          <a:solidFill>
            <a:srgbClr val="111827"/>
          </a:solidFill>
          <a:ln w="12700">
            <a:solidFill>
              <a:srgbClr val="1A3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92608" y="2350008"/>
            <a:ext cx="54864" cy="438912"/>
          </a:xfrm>
          <a:prstGeom prst="rect">
            <a:avLst/>
          </a:prstGeom>
          <a:solidFill>
            <a:srgbClr val="4CFF91"/>
          </a:solidFill>
          <a:ln w="12700">
            <a:solidFill>
              <a:srgbClr val="4CFF9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236829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CFF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RegistroProjetosCarbono.sol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38912" y="2587752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e status de projetos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09160" y="2331720"/>
            <a:ext cx="4206240" cy="475488"/>
          </a:xfrm>
          <a:prstGeom prst="rect">
            <a:avLst/>
          </a:prstGeom>
          <a:solidFill>
            <a:srgbClr val="111827"/>
          </a:solidFill>
          <a:ln w="12700">
            <a:solidFill>
              <a:srgbClr val="1A3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27448" y="2350008"/>
            <a:ext cx="54864" cy="438912"/>
          </a:xfrm>
          <a:prstGeom prst="rect">
            <a:avLst/>
          </a:prstGeom>
          <a:solidFill>
            <a:srgbClr val="4CFF91"/>
          </a:solidFill>
          <a:ln w="12700">
            <a:solidFill>
              <a:srgbClr val="4CFF9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3752" y="236829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CFF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ValidacaoProjetos.sol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73752" y="2587752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Votação descentralizada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2880360"/>
            <a:ext cx="4206240" cy="475488"/>
          </a:xfrm>
          <a:prstGeom prst="rect">
            <a:avLst/>
          </a:prstGeom>
          <a:solidFill>
            <a:srgbClr val="111827"/>
          </a:solidFill>
          <a:ln w="12700">
            <a:solidFill>
              <a:srgbClr val="1A3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92608" y="2898648"/>
            <a:ext cx="54864" cy="438912"/>
          </a:xfrm>
          <a:prstGeom prst="rect">
            <a:avLst/>
          </a:prstGeom>
          <a:solidFill>
            <a:srgbClr val="4CFF91"/>
          </a:solidFill>
          <a:ln w="12700">
            <a:solidFill>
              <a:srgbClr val="4CFF9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" y="291693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CFF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TesourariaCarbono.sol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38912" y="3136392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financeira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09160" y="2880360"/>
            <a:ext cx="4206240" cy="475488"/>
          </a:xfrm>
          <a:prstGeom prst="rect">
            <a:avLst/>
          </a:prstGeom>
          <a:solidFill>
            <a:srgbClr val="111827"/>
          </a:solidFill>
          <a:ln w="12700">
            <a:solidFill>
              <a:srgbClr val="1A3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27448" y="2898648"/>
            <a:ext cx="54864" cy="438912"/>
          </a:xfrm>
          <a:prstGeom prst="rect">
            <a:avLst/>
          </a:prstGeom>
          <a:solidFill>
            <a:srgbClr val="4CFF91"/>
          </a:solidFill>
          <a:ln w="12700">
            <a:solidFill>
              <a:srgbClr val="4CFF9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73752" y="291693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CFF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MercadoCarbono.sol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73752" y="3136392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de créditos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3429000"/>
            <a:ext cx="4206240" cy="475488"/>
          </a:xfrm>
          <a:prstGeom prst="rect">
            <a:avLst/>
          </a:prstGeom>
          <a:solidFill>
            <a:srgbClr val="111827"/>
          </a:solidFill>
          <a:ln w="12700">
            <a:solidFill>
              <a:srgbClr val="1A3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92608" y="3447288"/>
            <a:ext cx="54864" cy="438912"/>
          </a:xfrm>
          <a:prstGeom prst="rect">
            <a:avLst/>
          </a:prstGeom>
          <a:solidFill>
            <a:srgbClr val="4CFF91"/>
          </a:solidFill>
          <a:ln w="12700">
            <a:solidFill>
              <a:srgbClr val="4CFF9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8912" y="346557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CFF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RegistroAposentadorias.sol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38912" y="3685032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e aposentadoria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09160" y="3429000"/>
            <a:ext cx="4206240" cy="475488"/>
          </a:xfrm>
          <a:prstGeom prst="rect">
            <a:avLst/>
          </a:prstGeom>
          <a:solidFill>
            <a:srgbClr val="111827"/>
          </a:solidFill>
          <a:ln w="12700">
            <a:solidFill>
              <a:srgbClr val="1A3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27448" y="3447288"/>
            <a:ext cx="54864" cy="438912"/>
          </a:xfrm>
          <a:prstGeom prst="rect">
            <a:avLst/>
          </a:prstGeom>
          <a:solidFill>
            <a:srgbClr val="4CFF91"/>
          </a:solidFill>
          <a:ln w="12700">
            <a:solidFill>
              <a:srgbClr val="4CFF9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73752" y="346557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CFF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StakingCarbono.sol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873752" y="3685032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Staking de tokens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74320" y="3977640"/>
            <a:ext cx="4206240" cy="475488"/>
          </a:xfrm>
          <a:prstGeom prst="rect">
            <a:avLst/>
          </a:prstGeom>
          <a:solidFill>
            <a:srgbClr val="111827"/>
          </a:solidFill>
          <a:ln w="12700">
            <a:solidFill>
              <a:srgbClr val="1A3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292608" y="3995928"/>
            <a:ext cx="54864" cy="438912"/>
          </a:xfrm>
          <a:prstGeom prst="rect">
            <a:avLst/>
          </a:prstGeom>
          <a:solidFill>
            <a:srgbClr val="4CFF91"/>
          </a:solidFill>
          <a:ln w="12700">
            <a:solidFill>
              <a:srgbClr val="4CFF9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8912" y="401421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CFF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GovernancaCarbono.sol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38912" y="4233672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 descentralizada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709160" y="3977640"/>
            <a:ext cx="4206240" cy="475488"/>
          </a:xfrm>
          <a:prstGeom prst="rect">
            <a:avLst/>
          </a:prstGeom>
          <a:solidFill>
            <a:srgbClr val="111827"/>
          </a:solidFill>
          <a:ln w="12700">
            <a:solidFill>
              <a:srgbClr val="1A3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727448" y="3995928"/>
            <a:ext cx="54864" cy="438912"/>
          </a:xfrm>
          <a:prstGeom prst="rect">
            <a:avLst/>
          </a:prstGeom>
          <a:solidFill>
            <a:srgbClr val="4CFF91"/>
          </a:solidFill>
          <a:ln w="12700">
            <a:solidFill>
              <a:srgbClr val="4CFF9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73752" y="401421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CFF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AdaptadorOraculoChainlink.sol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873752" y="4233672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Oráculo Chainlink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74320" y="4526280"/>
            <a:ext cx="4206240" cy="475488"/>
          </a:xfrm>
          <a:prstGeom prst="rect">
            <a:avLst/>
          </a:prstGeom>
          <a:solidFill>
            <a:srgbClr val="111827"/>
          </a:solidFill>
          <a:ln w="12700">
            <a:solidFill>
              <a:srgbClr val="1A3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292608" y="4544568"/>
            <a:ext cx="54864" cy="438912"/>
          </a:xfrm>
          <a:prstGeom prst="rect">
            <a:avLst/>
          </a:prstGeom>
          <a:solidFill>
            <a:srgbClr val="4CFF91"/>
          </a:solidFill>
          <a:ln w="12700">
            <a:solidFill>
              <a:srgbClr val="4CFF9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38912" y="456285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CFF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MockPriceFeedChainlink.sol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38912" y="4782312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price feed (testes)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4CFF9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Tecnologias Utilizadas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160020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A3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92608" y="1024128"/>
            <a:ext cx="1563624" cy="73152"/>
          </a:xfrm>
          <a:prstGeom prst="rect">
            <a:avLst/>
          </a:prstGeom>
          <a:solidFill>
            <a:srgbClr val="0A4F2E"/>
          </a:solidFill>
          <a:ln w="12700">
            <a:solidFill>
              <a:srgbClr val="0A4F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887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Solidity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66420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smart contracts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011680" y="1005840"/>
            <a:ext cx="160020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A3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29968" y="1024128"/>
            <a:ext cx="1563624" cy="7315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11887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Hardhat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011680" y="166420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Compile, test, deploy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749040" y="1005840"/>
            <a:ext cx="160020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A3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67328" y="1024128"/>
            <a:ext cx="1563624" cy="7315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0" y="11887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TypeScript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49040" y="166420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de automação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0" y="1005840"/>
            <a:ext cx="160020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A3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504688" y="1024128"/>
            <a:ext cx="1563624" cy="73152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0" y="11887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React + Vite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0" y="166420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Web3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223760" y="1005840"/>
            <a:ext cx="160020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A3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242048" y="1024128"/>
            <a:ext cx="1563624" cy="7315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23760" y="11887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Ethers.js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223760" y="166420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blockchain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2514600"/>
            <a:ext cx="160020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A3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92608" y="2532888"/>
            <a:ext cx="1563624" cy="73152"/>
          </a:xfrm>
          <a:prstGeom prst="rect">
            <a:avLst/>
          </a:prstGeom>
          <a:solidFill>
            <a:srgbClr val="0A4F2E"/>
          </a:solidFill>
          <a:ln w="12700">
            <a:solidFill>
              <a:srgbClr val="0A4F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26974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OpenZeppelin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74320" y="317296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ERC-20/1155/721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011680" y="2514600"/>
            <a:ext cx="160020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A3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029968" y="2532888"/>
            <a:ext cx="1563624" cy="7315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11680" y="26974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Chainlink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011680" y="317296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Oráculo de preço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749040" y="2514600"/>
            <a:ext cx="160020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A3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767328" y="2532888"/>
            <a:ext cx="1563624" cy="7315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49040" y="26974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MetaMask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749040" y="317296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Carteira Web3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486400" y="2514600"/>
            <a:ext cx="160020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A3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504688" y="2532888"/>
            <a:ext cx="1563624" cy="7315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0" y="26974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Sepolia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486400" y="317296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pública de teste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223760" y="2514600"/>
            <a:ext cx="160020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A3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242048" y="2532888"/>
            <a:ext cx="1563624" cy="73152"/>
          </a:xfrm>
          <a:prstGeom prst="rect">
            <a:avLst/>
          </a:prstGeom>
          <a:solidFill>
            <a:srgbClr val="2E4053"/>
          </a:solidFill>
          <a:ln w="12700">
            <a:solidFill>
              <a:srgbClr val="2E405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23760" y="26974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Node.js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223760" y="317296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e automação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com 5 perfis de usuário  ·  Scripts de automação completa  ·  Votação descentralizada  ·  Oráculo Chainlink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4CFF9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Marketplace e Governança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Ecossistema completo — perfis, votação e negociação on-chain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4114800" cy="2560320"/>
          </a:xfrm>
          <a:prstGeom prst="rect">
            <a:avLst/>
          </a:prstGeom>
          <a:solidFill>
            <a:srgbClr val="0D1B2A"/>
          </a:solidFill>
          <a:ln w="12700">
            <a:solidFill>
              <a:srgbClr val="1A3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325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F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🏪  Marketplace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7556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Proponente oferta créditos CCT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213969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Comprador adquire com ETH de teste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52374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Taxa separada automaticamente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9077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Créditos ERC-1155 transferidos on-chain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3291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Aposentadoria emite NFT certificado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1234440"/>
            <a:ext cx="4297680" cy="2560320"/>
          </a:xfrm>
          <a:prstGeom prst="rect">
            <a:avLst/>
          </a:prstGeom>
          <a:solidFill>
            <a:srgbClr val="0D2137"/>
          </a:solidFill>
          <a:ln w="12700">
            <a:solidFill>
              <a:srgbClr val="1A3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13258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  Governança e Staking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09160" y="175564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Votação descentralizada por validadores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09160" y="213969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Staking de tokens no protocolo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09160" y="252374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Chainlink Oracle para precificação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09160" y="290779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 perfis: Admin / Proponente / Validador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09160" y="32918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Comprador / Usuário Extra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886200"/>
            <a:ext cx="8595360" cy="777240"/>
          </a:xfrm>
          <a:prstGeom prst="rect">
            <a:avLst/>
          </a:prstGeom>
          <a:solidFill>
            <a:srgbClr val="061A0E"/>
          </a:solidFill>
          <a:ln w="12700">
            <a:solidFill>
              <a:srgbClr val="1A3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F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Comprador paga ETH  →  Proponente recebe  →  Taxa separada  →  Créditos transferidos  →  Aposentadoria  →  NFT emitido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4CFF9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Mercado e Oportunidade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agora? O Brasil está no momento certo da história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508760" cy="1371600"/>
          </a:xfrm>
          <a:prstGeom prst="rect">
            <a:avLst/>
          </a:prstGeom>
          <a:solidFill>
            <a:srgbClr val="111827"/>
          </a:solidFill>
          <a:ln w="12700">
            <a:solidFill>
              <a:srgbClr val="1A3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9844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AAA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1997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709928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de Kyoto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148840" y="1234440"/>
            <a:ext cx="1508760" cy="1371600"/>
          </a:xfrm>
          <a:prstGeom prst="rect">
            <a:avLst/>
          </a:prstGeom>
          <a:solidFill>
            <a:srgbClr val="111827"/>
          </a:solidFill>
          <a:ln w="12700">
            <a:solidFill>
              <a:srgbClr val="1A3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48840" y="129844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AAA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2015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148840" y="1709928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Acordo de Paris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840480" y="1234440"/>
            <a:ext cx="1508760" cy="1371600"/>
          </a:xfrm>
          <a:prstGeom prst="rect">
            <a:avLst/>
          </a:prstGeom>
          <a:solidFill>
            <a:srgbClr val="0A2E1A"/>
          </a:solidFill>
          <a:ln w="12700">
            <a:solidFill>
              <a:srgbClr val="1A3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40480" y="129844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CFF9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2024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840480" y="1709928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 1542/2024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SBCE obrigatório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532120" y="1234440"/>
            <a:ext cx="1508760" cy="1371600"/>
          </a:xfrm>
          <a:prstGeom prst="rect">
            <a:avLst/>
          </a:prstGeom>
          <a:solidFill>
            <a:srgbClr val="0A2E1A"/>
          </a:solidFill>
          <a:ln w="12700">
            <a:solidFill>
              <a:srgbClr val="1A3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532120" y="129844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CFF9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532120" y="1709928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 30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Belém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223760" y="1234440"/>
            <a:ext cx="1508760" cy="1371600"/>
          </a:xfrm>
          <a:prstGeom prst="rect">
            <a:avLst/>
          </a:prstGeom>
          <a:solidFill>
            <a:srgbClr val="0A2E1A"/>
          </a:solidFill>
          <a:ln w="12700">
            <a:solidFill>
              <a:srgbClr val="1A3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223760" y="129844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2026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223760" y="1709928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CarbonLedger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Web3 para o SBCE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2788920"/>
            <a:ext cx="2011680" cy="1280160"/>
          </a:xfrm>
          <a:prstGeom prst="rect">
            <a:avLst/>
          </a:prstGeom>
          <a:solidFill>
            <a:srgbClr val="0D1B2A"/>
          </a:solidFill>
          <a:ln w="12700">
            <a:solidFill>
              <a:srgbClr val="1A3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74320" y="28529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US$ 2 bi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74320" y="335584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voluntário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441448" y="2788920"/>
            <a:ext cx="2011680" cy="1280160"/>
          </a:xfrm>
          <a:prstGeom prst="rect">
            <a:avLst/>
          </a:prstGeom>
          <a:solidFill>
            <a:srgbClr val="0D1B2A"/>
          </a:solidFill>
          <a:ln w="12700">
            <a:solidFill>
              <a:srgbClr val="1A3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441448" y="28529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+10.000%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2441448" y="335584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contratos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carbono UE (5 anos)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08576" y="2788920"/>
            <a:ext cx="2011680" cy="1280160"/>
          </a:xfrm>
          <a:prstGeom prst="rect">
            <a:avLst/>
          </a:prstGeom>
          <a:solidFill>
            <a:srgbClr val="0D1B2A"/>
          </a:solidFill>
          <a:ln w="12700">
            <a:solidFill>
              <a:srgbClr val="1A3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608576" y="28529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US$ 9-12 tri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608576" y="335584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Potencial vendas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2030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775704" y="2788920"/>
            <a:ext cx="2011680" cy="1280160"/>
          </a:xfrm>
          <a:prstGeom prst="rect">
            <a:avLst/>
          </a:prstGeom>
          <a:solidFill>
            <a:srgbClr val="0D1B2A"/>
          </a:solidFill>
          <a:ln w="12700">
            <a:solidFill>
              <a:srgbClr val="1A3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775704" y="28529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20%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775704" y="335584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Lucro em risco para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descarbonizar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4160520"/>
            <a:ext cx="8595360" cy="594360"/>
          </a:xfrm>
          <a:prstGeom prst="rect">
            <a:avLst/>
          </a:prstGeom>
          <a:solidFill>
            <a:srgbClr val="061A0E"/>
          </a:solidFill>
          <a:ln w="12700">
            <a:solidFill>
              <a:srgbClr val="1A3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57200" y="4251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CF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Falhar em descarbonizar pode arriscar até 20% do lucro econômico das empresas  (McKinsey, 2024)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4CFF9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Casos de Uso Reais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pode usar o CarbonLedger?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28600" y="1234440"/>
            <a:ext cx="274320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A3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38328" y="13258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CF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Empresas ESG / SBCE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38328" y="1709928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Certificado NFT verificável on-chain para conciliar emissões obrigatórias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172968" y="1234440"/>
            <a:ext cx="274320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A3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82696" y="13258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CF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ONGs Reflorestamento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82696" y="1709928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Tokenizam ações de plantio e vendem créditos no marketplace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17336" y="1234440"/>
            <a:ext cx="274320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A3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27064" y="13258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CF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Hub H2V Pecém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27064" y="1709928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 projetos de hidrogênio verde no Ceará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2697480"/>
            <a:ext cx="274320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A3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8328" y="27889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CF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🥩  Agroindustria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" y="3172968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Carne baixo carbono auditável — como o protocolo da Embrapa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172968" y="2697480"/>
            <a:ext cx="274320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A3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82696" y="27889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CF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Auditores SBCE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82696" y="3172968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Verificam NFT no Etherscan sem depender do emissor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17336" y="2697480"/>
            <a:ext cx="274320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A3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27064" y="27889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CF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  Industria Cap &amp; Trade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27064" y="3172968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 cotas excedentes tokenizadas gerando nova receita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4CFF9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Nossa Equipe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Residência em TIC 29 – Web 3.0  ·  Hackathon Web 3.0 IREDE  ·  Junho 2026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859536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A3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08760"/>
            <a:ext cx="685800" cy="685800"/>
          </a:xfrm>
          <a:prstGeom prst="ellipse">
            <a:avLst/>
          </a:prstGeom>
          <a:solidFill>
            <a:srgbClr val="0A4F2E"/>
          </a:solidFill>
          <a:ln w="12700">
            <a:solidFill>
              <a:srgbClr val="0A4F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25880" y="148132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Ednardo Pinheiro Peixoto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184708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Lead / Smart Contracts / GitHub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560320"/>
            <a:ext cx="859536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A3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697480"/>
            <a:ext cx="685800" cy="685800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74320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25880" y="267004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Alanio Ferreira de Lima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25880" y="303580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Blockchain / Documentação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749040"/>
            <a:ext cx="859536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A3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886200"/>
            <a:ext cx="685800" cy="685800"/>
          </a:xfrm>
          <a:prstGeom prst="ellipse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93192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25880" y="385876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Patrício Robson dos Santos Alves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25880" y="422452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/ QA / Frontend / Pitch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4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1A0E"/>
          </a:solidFill>
          <a:ln w="12700">
            <a:solidFill>
              <a:srgbClr val="061A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4CFF9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🌱 CarbonLedger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74320" y="227457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"Registro, validação, negociação, concessão e certificação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créditos de carbono em blockchain"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834640"/>
            <a:ext cx="7680960" cy="594360"/>
          </a:xfrm>
          <a:prstGeom prst="rect">
            <a:avLst/>
          </a:prstGeom>
          <a:solidFill>
            <a:srgbClr val="061A0E"/>
          </a:solidFill>
          <a:ln w="12700">
            <a:solidFill>
              <a:srgbClr val="1A3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90779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CFF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📦  github.com/probson1981/CarbonLedger-HackWeb3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520440"/>
            <a:ext cx="7680960" cy="594360"/>
          </a:xfrm>
          <a:prstGeom prst="rect">
            <a:avLst/>
          </a:prstGeom>
          <a:solidFill>
            <a:srgbClr val="061A0E"/>
          </a:solidFill>
          <a:ln w="12700">
            <a:solidFill>
              <a:srgbClr val="1A3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359359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CFF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🌐  carbonledger-tau.vercel.app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HackWeb3 RESTIC 29  ·  Hackathon Web 3.0 IREDE  ·  Junho 2026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5537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Ednardo Peixoto  ·  Alanio Lima  ·  Patrício Alves</a:t>
            </a:r>
            <a:endParaRPr lang="en-US" sz="1200" dirty="0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1C4923CF-78D7-C418-C68E-B02A0F4E23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06399" y="954405"/>
            <a:ext cx="2865120" cy="16402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897</Words>
  <Application>Microsoft Office PowerPoint</Application>
  <PresentationFormat>Apresentação na tela (16:9)</PresentationFormat>
  <Paragraphs>242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7" baseType="lpstr">
      <vt:lpstr>Arial</vt:lpstr>
      <vt:lpstr>Arial Black</vt:lpstr>
      <vt:lpstr>Calibri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CARLA CHIRLEY DA SILVA PINHEIRO</cp:lastModifiedBy>
  <cp:revision>2</cp:revision>
  <dcterms:created xsi:type="dcterms:W3CDTF">2026-06-08T15:09:09Z</dcterms:created>
  <dcterms:modified xsi:type="dcterms:W3CDTF">2026-06-08T15:48:40Z</dcterms:modified>
</cp:coreProperties>
</file>